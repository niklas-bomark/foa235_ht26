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99"/>
    <p:restoredTop sz="94685"/>
  </p:normalViewPr>
  <p:slideViewPr>
    <p:cSldViewPr snapToGrid="0">
      <p:cViewPr varScale="1">
        <p:scale>
          <a:sx n="117" d="100"/>
          <a:sy n="117" d="100"/>
        </p:scale>
        <p:origin x="6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E85765-085D-2E45-AB14-295721A679E5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2EDEE0-3492-2641-8EA4-40F7643767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884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2EDEE0-3492-2641-8EA4-40F76437679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6577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CEA6B-D06F-F4BF-6761-D9250058B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9AEC6B-BBCC-ACF5-D76A-36300AA901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EA8DD2-3CCC-8EB1-1DA2-6B19A8600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CE810-0D08-273B-D644-2D1636A77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2EDEE0-3492-2641-8EA4-40F76437679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499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5B261-EB57-0058-DBCA-63B6FFC8B5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96D29F-2E34-9016-3A44-7A88A09133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67DD5-C5DA-D53C-98ED-CC1F84399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D7EA2-47B9-F243-9F8F-FC6F9A09291F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C982D-6E06-5AA4-F7EC-F13AA28F9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01D63-1BD4-48FF-F43A-6319681EB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FFB6-3EE2-0F46-ACEC-1EBD004EC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550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CF671-CEAC-B08B-E79F-6B08CD55E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BA1FD-82F1-9397-B271-D96D0C316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16170-964B-DF49-E575-548B38E17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D7EA2-47B9-F243-9F8F-FC6F9A09291F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FFD92-40C1-6E85-BE96-5DDE3B7CC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F193A-2434-E43D-7C8D-485FFDA0B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FFB6-3EE2-0F46-ACEC-1EBD004EC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904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3B6A0-D089-801B-E29E-010294FF1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BC4A38-901F-B024-1587-38AC2E357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D64EE-C726-A980-7005-B27353C2D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D7EA2-47B9-F243-9F8F-FC6F9A09291F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6DE68-5166-151C-D0F8-65CCC51B6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764F1-F822-EB58-311F-B298BBDC7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FFB6-3EE2-0F46-ACEC-1EBD004EC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588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F4DF6-C5B2-5E82-824C-EC8371DBB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977CA-4C1D-491E-FAEC-7B86039F43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F8FBBF-F6CE-90F8-BE56-B479253483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326F9-5A36-DF91-0885-70F5F7F41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D7EA2-47B9-F243-9F8F-FC6F9A09291F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99FC35-6956-8812-21EC-55C8B15D4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A8356-BA92-83FF-8224-29A9CF412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FFB6-3EE2-0F46-ACEC-1EBD004EC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282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A1EC5-9B6E-2EDB-B085-A72FE9DE9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D202F8-8466-70B9-7D13-C9D0B0E9CA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B157A-90A2-FB55-6CF2-4800876F90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FD04B0-F5A8-09D2-42D8-70F17BEF25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47E267-6149-C607-BB46-5CAA50381F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820318-0807-0F2A-2FD5-C0911048F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D7EA2-47B9-F243-9F8F-FC6F9A09291F}" type="datetimeFigureOut">
              <a:rPr lang="en-US" smtClean="0"/>
              <a:t>9/3/26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B0E8DC-B59D-8384-5230-D7974EAF5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3F9990-8E16-8C18-2A43-2FABEBBDB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FFB6-3EE2-0F46-ACEC-1EBD004EC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258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3FF3A-D77E-4D81-FD2B-0B8620503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378136-9C1F-B024-4F46-C02784867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D7EA2-47B9-F243-9F8F-FC6F9A09291F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5AE7AE-A5CE-D330-983D-67B025E89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2FA36-AFB4-CC90-EE21-3D8A8B968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FFB6-3EE2-0F46-ACEC-1EBD004EC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25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7FE7F9-D700-6B1A-FE4C-8414EAEAE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D7EA2-47B9-F243-9F8F-FC6F9A09291F}" type="datetimeFigureOut">
              <a:rPr lang="en-US" smtClean="0"/>
              <a:t>9/3/26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7939BC-14E7-024A-0BF7-24F621225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E34BBA-A6B5-6E8B-5688-A883BFEB2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FFB6-3EE2-0F46-ACEC-1EBD004EC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12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02F77-A036-1B6C-6C7A-56F5DA1D1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9580C-C975-8FA6-FBC3-E406B1053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69366-0F86-D32E-C265-AC40C9C1BA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3426C-987B-D3DB-81C7-C3CDDB756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D7EA2-47B9-F243-9F8F-FC6F9A09291F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030745-24B1-D52E-AC5A-D24E06B5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D75A69-F060-6EE0-D404-95B26336D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FFB6-3EE2-0F46-ACEC-1EBD004EC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911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BCE41-28D8-92EF-AD8C-CB0B5B806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324294-7262-1434-9BE5-6467298636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5624F0-BDE4-EEF3-D2DA-D1DDE58308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6A4660-B036-A28C-BE29-CDF824848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D7EA2-47B9-F243-9F8F-FC6F9A09291F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C10D4E-5785-9FFC-BF9E-201CB14FA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240EB-BD2E-AC45-9C33-441EF00DB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FFB6-3EE2-0F46-ACEC-1EBD004EC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170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7FA5A-44D8-B6D5-ECF7-1BB3675DE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686E54-EC19-3279-3007-1266A2958E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F33B3-5F97-68DF-E794-DD83117C8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D7EA2-47B9-F243-9F8F-FC6F9A09291F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3A262-A3BE-C759-E491-2AD7B77CC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90578-1DF9-2928-D24E-FC8DC509E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FFB6-3EE2-0F46-ACEC-1EBD004EC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793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944194-98AC-682B-7CD6-D6BE292363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EA2C99-0885-CC65-0AF6-24E8835612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C888C-52C7-DF09-9284-9E5AFC9AE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D7EA2-47B9-F243-9F8F-FC6F9A09291F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F4429-30F2-7667-0E64-17B8415C7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42DDB-50F8-AA2A-DC1E-1B47F709D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FFB6-3EE2-0F46-ACEC-1EBD004EC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295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1E9300-0151-5301-81EF-39B8B4390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60A449-EE07-EBC3-C416-BEB1490C8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8A58A-A686-59B3-807B-766738E494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9D7EA2-47B9-F243-9F8F-FC6F9A09291F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8AE21-2D30-5378-7488-D215D8DBAA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CF45C-5E0C-D2DF-66C7-672E43F16C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F8FFB6-3EE2-0F46-ACEC-1EBD004EC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07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81BEB44-D44B-0616-86E7-44A305D04507}"/>
              </a:ext>
            </a:extLst>
          </p:cNvPr>
          <p:cNvSpPr txBox="1"/>
          <p:nvPr/>
        </p:nvSpPr>
        <p:spPr>
          <a:xfrm>
            <a:off x="772886" y="1230316"/>
            <a:ext cx="849085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Part 1: Identify the analytical problem</a:t>
            </a:r>
          </a:p>
          <a:p>
            <a:endParaRPr lang="en-US" dirty="0"/>
          </a:p>
          <a:p>
            <a:r>
              <a:rPr lang="en-US" dirty="0"/>
              <a:t>For each business problem below, answer and discuss the following questions:</a:t>
            </a:r>
          </a:p>
          <a:p>
            <a:endParaRPr lang="en-US" dirty="0"/>
          </a:p>
          <a:p>
            <a:r>
              <a:rPr lang="en-US" dirty="0"/>
              <a:t>1.  What does the organization want to learn or predict?</a:t>
            </a:r>
          </a:p>
          <a:p>
            <a:r>
              <a:rPr lang="en-US" dirty="0"/>
              <a:t>2.  Is there an outcome variable? If so, what is it?</a:t>
            </a:r>
          </a:p>
          <a:p>
            <a:r>
              <a:rPr lang="en-US" dirty="0"/>
              <a:t>3.  If there is an outcome variable, is it numerical or binary?</a:t>
            </a:r>
          </a:p>
          <a:p>
            <a:r>
              <a:rPr lang="en-US" dirty="0"/>
              <a:t>4.  If there is an outcome variable, which variables could be used as predictors?</a:t>
            </a:r>
          </a:p>
          <a:p>
            <a:r>
              <a:rPr lang="en-US" dirty="0"/>
              <a:t>5.  Which of the three methods would you use: K-means clustering, linear regression, or logistic regression?</a:t>
            </a:r>
          </a:p>
          <a:p>
            <a:r>
              <a:rPr lang="en-US" dirty="0"/>
              <a:t>6.  Why is this method appropriate for the problem?</a:t>
            </a:r>
          </a:p>
          <a:p>
            <a:r>
              <a:rPr lang="en-US" dirty="0"/>
              <a:t>7.  What would the output of the analysis look like? For example, would it produce clusters, numerical predictions, or predicted probabilities?</a:t>
            </a:r>
          </a:p>
          <a:p>
            <a:r>
              <a:rPr lang="en-US" dirty="0"/>
              <a:t>8.  How could the organization use the results to support a business decision?</a:t>
            </a:r>
          </a:p>
        </p:txBody>
      </p:sp>
    </p:spTree>
    <p:extLst>
      <p:ext uri="{BB962C8B-B14F-4D97-AF65-F5344CB8AC3E}">
        <p14:creationId xmlns:p14="http://schemas.microsoft.com/office/powerpoint/2010/main" val="3055808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3CC11-3B0C-4982-4BB5-A69DF6A76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08E8B5-7A11-1069-B3A8-D622AA3AA99F}"/>
              </a:ext>
            </a:extLst>
          </p:cNvPr>
          <p:cNvSpPr txBox="1"/>
          <p:nvPr/>
        </p:nvSpPr>
        <p:spPr>
          <a:xfrm>
            <a:off x="772886" y="1230316"/>
            <a:ext cx="849085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Part 2: K-means clustering</a:t>
            </a:r>
          </a:p>
          <a:p>
            <a:endParaRPr lang="en-US" b="1" dirty="0"/>
          </a:p>
          <a:p>
            <a:r>
              <a:rPr lang="en-US" dirty="0"/>
              <a:t>Consider the customer segmentation problem above. K-means assigns observations to clusters based on their similarity. The groups are not known in advance.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01C45D-6B3E-2B87-9A3D-2BBA54DCA114}"/>
              </a:ext>
            </a:extLst>
          </p:cNvPr>
          <p:cNvSpPr txBox="1"/>
          <p:nvPr/>
        </p:nvSpPr>
        <p:spPr>
          <a:xfrm>
            <a:off x="283030" y="3187397"/>
            <a:ext cx="3243943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Question 1: </a:t>
            </a:r>
          </a:p>
          <a:p>
            <a:endParaRPr lang="en-US" sz="1600" dirty="0"/>
          </a:p>
          <a:p>
            <a:r>
              <a:rPr lang="en-US" sz="1600" dirty="0"/>
              <a:t>Suppose the company decides to use:</a:t>
            </a:r>
          </a:p>
          <a:p>
            <a:endParaRPr lang="en-US" sz="1600" dirty="0"/>
          </a:p>
          <a:p>
            <a:r>
              <a:rPr lang="en-US" sz="1600" dirty="0"/>
              <a:t>centers = 3</a:t>
            </a:r>
          </a:p>
          <a:p>
            <a:endParaRPr lang="en-US" sz="1600" dirty="0"/>
          </a:p>
          <a:p>
            <a:r>
              <a:rPr lang="en-US" sz="1600" dirty="0"/>
              <a:t>What does this tell the K-means algorithm to do? </a:t>
            </a:r>
          </a:p>
          <a:p>
            <a:endParaRPr lang="en-US" sz="1600" dirty="0"/>
          </a:p>
          <a:p>
            <a:r>
              <a:rPr lang="en-US" sz="1600" dirty="0"/>
              <a:t>Does it mean that there are definitely three meaningful customer groups in the real world?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BAACA8-A962-3729-8663-15421C821F8D}"/>
              </a:ext>
            </a:extLst>
          </p:cNvPr>
          <p:cNvSpPr txBox="1"/>
          <p:nvPr/>
        </p:nvSpPr>
        <p:spPr>
          <a:xfrm>
            <a:off x="3521529" y="3174393"/>
            <a:ext cx="2982685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Question 2:</a:t>
            </a:r>
          </a:p>
          <a:p>
            <a:endParaRPr lang="en-US" sz="1600" dirty="0"/>
          </a:p>
          <a:p>
            <a:r>
              <a:rPr lang="en-US" sz="1600" dirty="0"/>
              <a:t>Imagine that one variable is: Age: 18–80</a:t>
            </a:r>
          </a:p>
          <a:p>
            <a:endParaRPr lang="en-US" sz="1600" dirty="0"/>
          </a:p>
          <a:p>
            <a:r>
              <a:rPr lang="en-US" sz="1600" dirty="0"/>
              <a:t>while another is: Annual income: 200,000–2,000,000 SEK</a:t>
            </a:r>
          </a:p>
          <a:p>
            <a:endParaRPr lang="en-US" sz="1600" dirty="0"/>
          </a:p>
          <a:p>
            <a:r>
              <a:rPr lang="en-US" sz="1600" dirty="0"/>
              <a:t>Why could this create a problem for K-means? </a:t>
            </a:r>
          </a:p>
          <a:p>
            <a:r>
              <a:rPr lang="en-US" sz="1600" dirty="0"/>
              <a:t>What could we do before running K-means to address this problem?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415A8D-1EAC-1E61-A293-2FECEE026CC0}"/>
              </a:ext>
            </a:extLst>
          </p:cNvPr>
          <p:cNvSpPr txBox="1"/>
          <p:nvPr/>
        </p:nvSpPr>
        <p:spPr>
          <a:xfrm>
            <a:off x="6564085" y="3187397"/>
            <a:ext cx="250371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Question 3:</a:t>
            </a:r>
          </a:p>
          <a:p>
            <a:endParaRPr lang="en-US" sz="1600" dirty="0"/>
          </a:p>
          <a:p>
            <a:r>
              <a:rPr lang="en-US" sz="1600" dirty="0"/>
              <a:t>Discuss how you would describe each cluster.</a:t>
            </a:r>
          </a:p>
          <a:p>
            <a:endParaRPr lang="en-US" sz="1600" dirty="0"/>
          </a:p>
          <a:p>
            <a:r>
              <a:rPr lang="en-US" sz="1600" dirty="0"/>
              <a:t>Try to give each cluster a meaningful business description or name.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235F13-3239-8B2B-4BE8-EAFB481A9ECD}"/>
              </a:ext>
            </a:extLst>
          </p:cNvPr>
          <p:cNvSpPr txBox="1"/>
          <p:nvPr/>
        </p:nvSpPr>
        <p:spPr>
          <a:xfrm>
            <a:off x="9274629" y="3174393"/>
            <a:ext cx="286294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Question 4: </a:t>
            </a:r>
          </a:p>
          <a:p>
            <a:endParaRPr lang="en-US" sz="1600" b="1" dirty="0"/>
          </a:p>
          <a:p>
            <a:r>
              <a:rPr lang="en-US" sz="1600" dirty="0"/>
              <a:t>A marketing manager says:</a:t>
            </a:r>
          </a:p>
          <a:p>
            <a:endParaRPr lang="en-US" sz="1600" dirty="0"/>
          </a:p>
          <a:p>
            <a:r>
              <a:rPr lang="en-US" sz="1600" dirty="0"/>
              <a:t>"Cluster 3 is our best customer segment."</a:t>
            </a:r>
          </a:p>
          <a:p>
            <a:endParaRPr lang="en-US" sz="1600" dirty="0"/>
          </a:p>
          <a:p>
            <a:r>
              <a:rPr lang="en-US" sz="1600" dirty="0"/>
              <a:t>Can this conclusion be made from the table alone? </a:t>
            </a:r>
          </a:p>
          <a:p>
            <a:endParaRPr lang="en-US" sz="1600" dirty="0"/>
          </a:p>
          <a:p>
            <a:r>
              <a:rPr lang="en-US" sz="1600" dirty="0"/>
              <a:t>Discuss what </a:t>
            </a:r>
            <a:r>
              <a:rPr lang="en-US" sz="1600" b="1" i="1" dirty="0"/>
              <a:t>best</a:t>
            </a:r>
            <a:r>
              <a:rPr lang="en-US" sz="1600" dirty="0"/>
              <a:t> could mean and what additional information might be needed.</a:t>
            </a:r>
          </a:p>
        </p:txBody>
      </p:sp>
    </p:spTree>
    <p:extLst>
      <p:ext uri="{BB962C8B-B14F-4D97-AF65-F5344CB8AC3E}">
        <p14:creationId xmlns:p14="http://schemas.microsoft.com/office/powerpoint/2010/main" val="340964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07472-0767-19CC-8B76-5F73E07CD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E08DA2-5758-C675-D98D-20387A36BA16}"/>
              </a:ext>
            </a:extLst>
          </p:cNvPr>
          <p:cNvSpPr txBox="1"/>
          <p:nvPr/>
        </p:nvSpPr>
        <p:spPr>
          <a:xfrm>
            <a:off x="772886" y="1230316"/>
            <a:ext cx="8490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Part 3: Linear regression</a:t>
            </a:r>
            <a:endParaRPr lang="en-US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C29BD2-3BE2-E399-1C46-AAC57F1AD95A}"/>
              </a:ext>
            </a:extLst>
          </p:cNvPr>
          <p:cNvSpPr txBox="1"/>
          <p:nvPr/>
        </p:nvSpPr>
        <p:spPr>
          <a:xfrm>
            <a:off x="283030" y="3187397"/>
            <a:ext cx="3243943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Question 1: </a:t>
            </a:r>
          </a:p>
          <a:p>
            <a:endParaRPr lang="en-US" sz="1600" dirty="0"/>
          </a:p>
          <a:p>
            <a:r>
              <a:rPr lang="en-US" sz="1600" dirty="0"/>
              <a:t>Identify:</a:t>
            </a:r>
          </a:p>
          <a:p>
            <a:endParaRPr lang="en-US" sz="1600" dirty="0"/>
          </a:p>
          <a:p>
            <a:r>
              <a:rPr lang="en-US" sz="1600" dirty="0"/>
              <a:t>-   the outcome variable,</a:t>
            </a:r>
          </a:p>
          <a:p>
            <a:r>
              <a:rPr lang="en-US" sz="1600" dirty="0"/>
              <a:t>-   the predictor variable,</a:t>
            </a:r>
          </a:p>
          <a:p>
            <a:r>
              <a:rPr lang="en-US" sz="1600" dirty="0"/>
              <a:t>-   the intercept,</a:t>
            </a:r>
          </a:p>
          <a:p>
            <a:r>
              <a:rPr lang="en-US" sz="1600" dirty="0"/>
              <a:t>-   the slope.</a:t>
            </a:r>
          </a:p>
          <a:p>
            <a:endParaRPr lang="en-US" sz="1600" dirty="0"/>
          </a:p>
          <a:p>
            <a:r>
              <a:rPr lang="en-US" sz="1600" dirty="0"/>
              <a:t>What does the model try to represent?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094C24-7FA3-DD81-D152-6BCAF1B90E13}"/>
              </a:ext>
            </a:extLst>
          </p:cNvPr>
          <p:cNvSpPr txBox="1"/>
          <p:nvPr/>
        </p:nvSpPr>
        <p:spPr>
          <a:xfrm>
            <a:off x="3521529" y="3174393"/>
            <a:ext cx="298268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Question 2:</a:t>
            </a:r>
          </a:p>
          <a:p>
            <a:endParaRPr lang="en-US" sz="1600" dirty="0"/>
          </a:p>
          <a:p>
            <a:r>
              <a:rPr lang="en-US" sz="1600" dirty="0"/>
              <a:t>Discuss what happens to predicted sales when advertising increases.</a:t>
            </a:r>
          </a:p>
          <a:p>
            <a:endParaRPr lang="en-US" sz="1600" dirty="0"/>
          </a:p>
          <a:p>
            <a:r>
              <a:rPr lang="en-US" sz="1600" dirty="0"/>
              <a:t>If advertising increases by 10 units, by how much does predicted sales change?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9528DF-7954-233C-58EB-8CB9DE662B3E}"/>
              </a:ext>
            </a:extLst>
          </p:cNvPr>
          <p:cNvSpPr txBox="1"/>
          <p:nvPr/>
        </p:nvSpPr>
        <p:spPr>
          <a:xfrm>
            <a:off x="6515100" y="1725487"/>
            <a:ext cx="2503714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Question 3:</a:t>
            </a:r>
          </a:p>
          <a:p>
            <a:endParaRPr lang="en-US" sz="1600" dirty="0"/>
          </a:p>
          <a:p>
            <a:r>
              <a:rPr lang="en-US" sz="1600" dirty="0"/>
              <a:t>The model predicts sales of 500, but actual sales were 560. What is the prediction error (residual)? </a:t>
            </a:r>
          </a:p>
          <a:p>
            <a:endParaRPr lang="en-US" sz="1600" dirty="0"/>
          </a:p>
          <a:p>
            <a:r>
              <a:rPr lang="en-US" sz="1600" dirty="0"/>
              <a:t>Did the model overpredict or underpredict sales?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b="1" dirty="0"/>
              <a:t>Question 4: </a:t>
            </a:r>
          </a:p>
          <a:p>
            <a:r>
              <a:rPr lang="en-US" sz="1600" dirty="0"/>
              <a:t>Which prediction is better? How could we summarize prediction errors across hundreds or thousands of observations?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F06ECC-583E-66BE-AB06-B653160CC3B2}"/>
              </a:ext>
            </a:extLst>
          </p:cNvPr>
          <p:cNvSpPr txBox="1"/>
          <p:nvPr/>
        </p:nvSpPr>
        <p:spPr>
          <a:xfrm>
            <a:off x="9274629" y="3174393"/>
            <a:ext cx="286294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Question 5: </a:t>
            </a:r>
          </a:p>
          <a:p>
            <a:endParaRPr lang="en-US" sz="1600" b="1" dirty="0"/>
          </a:p>
          <a:p>
            <a:r>
              <a:rPr lang="en-US" sz="1600" dirty="0"/>
              <a:t>A manager says:</a:t>
            </a:r>
          </a:p>
          <a:p>
            <a:endParaRPr lang="en-US" sz="1600" dirty="0"/>
          </a:p>
          <a:p>
            <a:r>
              <a:rPr lang="en-US" sz="1600" dirty="0"/>
              <a:t>"Our regression model predicts sales very well, so increasing advertising must cause sales to increase."</a:t>
            </a:r>
          </a:p>
          <a:p>
            <a:endParaRPr lang="en-US" sz="1600" dirty="0"/>
          </a:p>
          <a:p>
            <a:r>
              <a:rPr lang="en-US" sz="1600" dirty="0"/>
              <a:t>Discuss this statement. Is prediction necessarily the same thing as establishing causality?</a:t>
            </a:r>
          </a:p>
        </p:txBody>
      </p:sp>
    </p:spTree>
    <p:extLst>
      <p:ext uri="{BB962C8B-B14F-4D97-AF65-F5344CB8AC3E}">
        <p14:creationId xmlns:p14="http://schemas.microsoft.com/office/powerpoint/2010/main" val="3177506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A11CF-CE74-522E-81DC-FA5281D47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22FB032-599A-4B55-7D85-0AFA0937F6F3}"/>
              </a:ext>
            </a:extLst>
          </p:cNvPr>
          <p:cNvSpPr txBox="1"/>
          <p:nvPr/>
        </p:nvSpPr>
        <p:spPr>
          <a:xfrm>
            <a:off x="772886" y="1230316"/>
            <a:ext cx="84908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Part 4: Logistic regression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76D767-11AD-9FA2-394C-76CAF0B57156}"/>
              </a:ext>
            </a:extLst>
          </p:cNvPr>
          <p:cNvSpPr txBox="1"/>
          <p:nvPr/>
        </p:nvSpPr>
        <p:spPr>
          <a:xfrm>
            <a:off x="283030" y="3187397"/>
            <a:ext cx="255814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Question 1: </a:t>
            </a:r>
          </a:p>
          <a:p>
            <a:endParaRPr lang="en-US" sz="1600" dirty="0"/>
          </a:p>
          <a:p>
            <a:r>
              <a:rPr lang="en-US" sz="1600" dirty="0"/>
              <a:t>Interpret each probability in words. </a:t>
            </a:r>
          </a:p>
          <a:p>
            <a:endParaRPr lang="en-US" sz="1600" dirty="0"/>
          </a:p>
          <a:p>
            <a:r>
              <a:rPr lang="en-US" sz="1600" dirty="0"/>
              <a:t>Which customer appears most likely to purchase?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4E5384-D537-D6FF-73F7-1395F1AC0DFD}"/>
              </a:ext>
            </a:extLst>
          </p:cNvPr>
          <p:cNvSpPr txBox="1"/>
          <p:nvPr/>
        </p:nvSpPr>
        <p:spPr>
          <a:xfrm>
            <a:off x="3521529" y="3174393"/>
            <a:ext cx="29826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Question 2:</a:t>
            </a:r>
          </a:p>
          <a:p>
            <a:endParaRPr lang="en-US" sz="1600" dirty="0"/>
          </a:p>
          <a:p>
            <a:r>
              <a:rPr lang="en-US" sz="1600" dirty="0"/>
              <a:t>Explain your reasoning.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F8138F-DE20-8706-6CBF-2C4C595875A7}"/>
              </a:ext>
            </a:extLst>
          </p:cNvPr>
          <p:cNvSpPr txBox="1"/>
          <p:nvPr/>
        </p:nvSpPr>
        <p:spPr>
          <a:xfrm>
            <a:off x="6515100" y="1725487"/>
            <a:ext cx="250371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Question 3:</a:t>
            </a:r>
          </a:p>
          <a:p>
            <a:endParaRPr lang="en-US" sz="1600" dirty="0"/>
          </a:p>
          <a:p>
            <a:r>
              <a:rPr lang="en-US" sz="1600" dirty="0"/>
              <a:t>Change the classification threshold to 0.7.</a:t>
            </a:r>
          </a:p>
          <a:p>
            <a:endParaRPr lang="en-US" sz="1600" dirty="0"/>
          </a:p>
          <a:p>
            <a:r>
              <a:rPr lang="en-US" sz="1600" dirty="0"/>
              <a:t>Which customer's classification changes? Why?</a:t>
            </a:r>
          </a:p>
          <a:p>
            <a:endParaRPr lang="en-US" sz="1600" dirty="0"/>
          </a:p>
          <a:p>
            <a:r>
              <a:rPr lang="en-US" sz="1600" b="1" dirty="0"/>
              <a:t>Question 4: </a:t>
            </a:r>
          </a:p>
          <a:p>
            <a:r>
              <a:rPr lang="en-US" sz="1600" dirty="0"/>
              <a:t>Discuss why the business consequences of the classification might influence the choice of threshold.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5F7D72-6C9C-A621-7EDD-0C8B4176B4C2}"/>
              </a:ext>
            </a:extLst>
          </p:cNvPr>
          <p:cNvSpPr txBox="1"/>
          <p:nvPr/>
        </p:nvSpPr>
        <p:spPr>
          <a:xfrm>
            <a:off x="9274629" y="3174393"/>
            <a:ext cx="286294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Question 5: </a:t>
            </a:r>
          </a:p>
          <a:p>
            <a:endParaRPr lang="en-US" sz="1600" b="1" dirty="0"/>
          </a:p>
          <a:p>
            <a:r>
              <a:rPr lang="en-US" sz="1600" dirty="0"/>
              <a:t>Are these mistakes equally important? </a:t>
            </a:r>
          </a:p>
          <a:p>
            <a:endParaRPr lang="en-US" sz="1600" dirty="0"/>
          </a:p>
          <a:p>
            <a:r>
              <a:rPr lang="en-US" sz="1600" dirty="0"/>
              <a:t>Think of a business situation where Mistake A would be more costly. </a:t>
            </a:r>
          </a:p>
          <a:p>
            <a:endParaRPr lang="en-US" sz="1600" dirty="0"/>
          </a:p>
          <a:p>
            <a:r>
              <a:rPr lang="en-US" sz="1600" dirty="0"/>
              <a:t>Then think of a situation where Mistake B would be more costly.</a:t>
            </a:r>
          </a:p>
        </p:txBody>
      </p:sp>
    </p:spTree>
    <p:extLst>
      <p:ext uri="{BB962C8B-B14F-4D97-AF65-F5344CB8AC3E}">
        <p14:creationId xmlns:p14="http://schemas.microsoft.com/office/powerpoint/2010/main" val="1735194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584</Words>
  <Application>Microsoft Macintosh PowerPoint</Application>
  <PresentationFormat>Widescreen</PresentationFormat>
  <Paragraphs>104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Niklas Bomark</dc:creator>
  <cp:lastModifiedBy>Niklas Bomark</cp:lastModifiedBy>
  <cp:revision>8</cp:revision>
  <dcterms:created xsi:type="dcterms:W3CDTF">2026-09-03T12:21:36Z</dcterms:created>
  <dcterms:modified xsi:type="dcterms:W3CDTF">2026-09-03T12:41:44Z</dcterms:modified>
</cp:coreProperties>
</file>